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4L5O6TFVg/mbMbRGlmdvESvPNr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BENJAMIN AMAURI ANTONIO GATICA TREJ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02T02:43:52.243">
    <p:pos x="6000" y="0"/>
    <p:text>delete this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-vJTw6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abrir con seguridad y encuadrar el proyecto. QUÉ DECIR: 'Buenas, soy Benjamin Gatica. Presento EventOut, una aplicación web fullstack para descubrir lugares y eventos culturales y recreativos de Santiago. Trabajé el rol de Product Owner; el equipo lo completan Diego Olmos en QA y Joaquín González en desarrollo.' Mencionar que la calificación es individual y que la exposición recorre problema, objetivos, arquitectura, tecnologías, la solución funcionando y las pruebas. Duración objetivo ~15 min. Hablar con lenguaje técnico y pausado.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dominio de la problemática con causas y efectos (rúbrica ítem 2). QUÉ DECIR: recorrer causas (izquierda) y encadenarlas con sus efectos (derecha) — la fragmentación provoca pérdida de tiempo y baja participación. Rematar con la justificación: la solución es centralizar + mapa + filtros + comunidad de reseñas. Enfatizar la relación causa→efecto, no solo enumerar.</a:t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dominio de objetivos y su coherencia con el problema (rúbrica ítem 3). QUÉ DECIR: leer el objetivo general y mostrar cómo cada específico ataca una parte del problema. Específico 1 resuelve 'información dispersa y sin filtros' (catálogo + filtros + mapa). Específico 2 resuelve 'sin comunidad ni confianza' (reseñas + votación + auth + panel admin). Recalcar la trazabilidad problema → objetivos.</a:t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justificar la elección tecnológica y sus características cloud (rúbrica ítem 6). QUÉ DECIR: elegí React+Vite por productividad y ecosistema; Spring Boot por robustez, seguridad y JPA; MySQL por relaciones claras del dominio; JWT para autenticación stateless; Swagger para documentar. La justificación cloud: al desacoplar SPA y API, el frontend se sirve desde Vercel (CDN + despliegue continuo) y la API, al ser stateless, es fácilmente contenerizable y desplegable en la nube; hoy corre local y la ruta es Docker + AWS. Conectar cada tecnología con un requerimiento.</a:t>
            </a:r>
            <a:endParaRPr/>
          </a:p>
        </p:txBody>
      </p:sp>
      <p:sp>
        <p:nvSpPr>
          <p:cNvPr id="89" name="Google Shape;8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dominio de metodología y planificación (rúbrica ítems 5 y 7). QUÉ DECIR: la metodología fue iterativa e incremental, proporcional a un proyecto de semestre con entregas parciales. Como patrones de diseño: capas (controller-service-repository) en el backend y MVVM en el frontend. Recorrer las 5 fases del plan de trabajo. Presentar al equipo y los roles. IMPORTANTE: ajustar el nombre de la metodología al que figure en tu informe para mantener coherencia.</a:t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dominio del alcance con entregables, supuestos y restricciones (rúbrica ítem 4). QUÉ DECIR: el alcance responde a los objetivos. Nombrar entregables, luego los supuestos bajo los que opera y las restricciones (destacar honestamente que backend y BD corren en entorno local en esta versión). Cerrar con lo que queda fuera de alcance para delimitar expectativas. Ser explícito: 'no incluye pagos ni recuperación de clave por correo en esta entrega'.</a:t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presentar requerimientos relevantes (checklist del encargo) que respaldan el desarrollo (rúbrica ítem 9). QUÉ DECIR: enumerar brevemente los 8 requerimientos funcionales que forman el core del negocio y, sobre todo, explicar los no funcionales como atributos de calidad: seguridad (JWT/BCrypt/roles), rendimiento (carga diferida y consultas con conteos agregados), usabilidad, mantenibilidad (MVVM+capas), calidad (pruebas+validación) y documentación viva. Estos atributos hacen la solución viable, de calidad y segura.</a:t>
            </a:r>
            <a:endParaRPr/>
          </a:p>
        </p:txBody>
      </p:sp>
      <p:sp>
        <p:nvSpPr>
          <p:cNvPr id="193" name="Google Shape;1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dominio del diseño de datos (rúbrica ítem 9 / producto). QUÉ DECIR: 7 entidades. Contenido: categoria clasifica lugares; un lugar tiene muchos eventos; un usuario genera reseñas, votos y favoritos. Reseña y favorito apuntan a un lugar XOR un evento (exactamente uno), regla validada en el servicio. Las PK son UUID en CHAR(36); hay restricciones de unicidad (un voto por usuario-reseña; un favorito por usuario-lugar/evento) e integridad por claves foráneas. Los timestamps created_at se generan con @PrePersist. Mencionar que Hibernate mapea estas entidades con JPA.</a:t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demostrar que la solución es segura (rúbrica ítems 9/11/12, atributo seguridad). QUÉ DECIR: la autenticación es stateless con JWT (HS256, JJWT 0.12.6): el login emite un token con id, email y rol; el cliente lo guarda y lo envía como Bearer; un OncePerRequestFilter valida firma y expiración y arma el SecurityContext; la autorización decide por rol (lecturas públicas GET, /admin solo ADMIN, el resto autenticado). Medidas: contraseñas con BCrypt (@JsonIgnore en password_hash), CORS restringido al frontend, sesión sin estado, doble verificación en el cliente (guard por token + interceptor global 401/403 + evento storage entre pestañas) y enforcement de cuenta bloqueada contra /auth/me.</a:t>
            </a:r>
            <a:endParaRPr/>
          </a:p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descripción del producto (checklist del encargo). QUÉ DECIR: presentar las 8 funcionalidades que forman el core del negocio y confirmar que están al 100%. Destacar las diferenciadoras: mapa interactivo georreferenciado, comunidad de reseñas con votación (las mejor valoradas se muestran primero), propuestas de eventos moderadas y panel de administración. Enlazar con la demostración en vivo que viene a continuación.</a:t>
            </a:r>
            <a:endParaRPr/>
          </a:p>
        </p:txBody>
      </p:sp>
      <p:sp>
        <p:nvSpPr>
          <p:cNvPr id="350" name="Google Shape;3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050242e8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f050242e8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050242e8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f050242e8d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f050242e8d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f050242e8d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dominio sobre la aplicación de pruebas (ítem 11) y sobre las mejoras derivadas (ítem 12). QUÉ DECIR: explicar que las pruebas se ejecutan de forma reproducible en backend y frontend, más verificación manual en Swagger. Luego presentar las mejoras como consecuencia de validar el sistema. IMPORTANTE para Benjamin: conecta cada mejora con un hallazgo concreto — por ejemplo, 'al probar el login detectamos que una cuenta bloqueada aún podía entrar, y agregamos el chequeo de estado'. Así demuestras el ciclo prueba → hallazgo → mejora que pide la rúbrica, y no solo una lista de decisiones de diseño.</a:t>
            </a:r>
            <a:endParaRPr/>
          </a:p>
        </p:txBody>
      </p:sp>
      <p:sp>
        <p:nvSpPr>
          <p:cNvPr id="413" name="Google Shape;4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mostrar capacidad de resolver problemas propios de la disciplina con argumentos técnicos. QUÉ DECIR: elegir 2 desafíos para profundizar. El de la migración es el más fuerte: explicar que gracias a la capa Model y a los DTOs en snake_case se cambió todo el backend sin tocar las vistas React. El de autenticación demuestra criterio de seguridad (stateless, expiración, doble verificación). Los otros dos (XOR e integridad) muestran cuidado por la consistencia de los datos. Hablar en términos de decisión y trade-off, no solo de qué se hizo.</a:t>
            </a:r>
            <a:endParaRPr/>
          </a:p>
        </p:txBody>
      </p:sp>
      <p:sp>
        <p:nvSpPr>
          <p:cNvPr id="452" name="Google Shape;45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cerrar concluyendo sobre los objetivos cumplidos y el aprendizaje desde un punto de vista técnico de la industria (rúbrica ítem 13, el que cierra la nota). QUÉ DECIR: retomar el objetivo general y confirmar que se cumplió. Destacar 2 o 3 aprendizajes que más te marcaron y por qué te sirven profesionalmente. Terminar con la mirada de industria: no fue solo 'programar', fue aplicar arquitectura, seguridad y pruebas como se hace en un equipo real. Este cierre debe sonar seguro y personal.</a:t>
            </a:r>
            <a:endParaRPr/>
          </a:p>
        </p:txBody>
      </p:sp>
      <p:sp>
        <p:nvSpPr>
          <p:cNvPr id="483" name="Google Shape;48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mostrar el software funcionando y ejemplo de pruebas funcionales ejecutadas (rúbrica ítem 9 + checklist). ANTES DE EMPEZAR: reemplazar el recuadro por una captura real y tener el backend (mvnw spring-boot:run) y el frontend (npm run dev) levantados. GUION: seguir los 8 pasos. Al votar, remarcar que las reseñas se reordenan por score (likes-dislikes). Como admin, aprobar la propuesta creada antes y moderar una reseña. Cerrar mostrando Swagger UI y autorizando con el token Bearer. Si algo falla en vivo, apoyarse en las capturas de respaldo.</a:t>
            </a:r>
            <a:endParaRPr/>
          </a:p>
        </p:txBody>
      </p:sp>
      <p:sp>
        <p:nvSpPr>
          <p:cNvPr id="520" name="Google Shape;52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cerrar formalmente y abrir el espacio de preguntas (10 min). QUÉ DECIR: agradecer y quedar disponible. Recordar al equipo que las preguntas pueden dirigirse a cualquier integrante, así que todos deben manejar la arquitectura, la seguridad y el plan de pruebas. Tener a mano la app corriendo y Swagger por si piden ver algo en vivo.</a:t>
            </a:r>
            <a:endParaRPr/>
          </a:p>
        </p:txBody>
      </p:sp>
      <p:sp>
        <p:nvSpPr>
          <p:cNvPr id="564" name="Google Shape;56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38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Relationship Id="rId4" Type="http://schemas.openxmlformats.org/officeDocument/2006/relationships/image" Target="../media/image5.png"/><Relationship Id="rId10" Type="http://schemas.openxmlformats.org/officeDocument/2006/relationships/image" Target="../media/image39.png"/><Relationship Id="rId9" Type="http://schemas.openxmlformats.org/officeDocument/2006/relationships/image" Target="../media/image34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3.png"/><Relationship Id="rId11" Type="http://schemas.openxmlformats.org/officeDocument/2006/relationships/image" Target="../media/image41.png"/><Relationship Id="rId10" Type="http://schemas.openxmlformats.org/officeDocument/2006/relationships/image" Target="../media/image47.png"/><Relationship Id="rId12" Type="http://schemas.openxmlformats.org/officeDocument/2006/relationships/image" Target="../media/image60.png"/><Relationship Id="rId9" Type="http://schemas.openxmlformats.org/officeDocument/2006/relationships/image" Target="../media/image40.png"/><Relationship Id="rId5" Type="http://schemas.openxmlformats.org/officeDocument/2006/relationships/image" Target="../media/image36.png"/><Relationship Id="rId6" Type="http://schemas.openxmlformats.org/officeDocument/2006/relationships/image" Target="../media/image2.png"/><Relationship Id="rId7" Type="http://schemas.openxmlformats.org/officeDocument/2006/relationships/image" Target="../media/image57.png"/><Relationship Id="rId8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4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3.png"/><Relationship Id="rId5" Type="http://schemas.openxmlformats.org/officeDocument/2006/relationships/image" Target="../media/image54.png"/><Relationship Id="rId6" Type="http://schemas.openxmlformats.org/officeDocument/2006/relationships/image" Target="../media/image6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63.png"/><Relationship Id="rId5" Type="http://schemas.openxmlformats.org/officeDocument/2006/relationships/image" Target="../media/image70.png"/><Relationship Id="rId6" Type="http://schemas.openxmlformats.org/officeDocument/2006/relationships/image" Target="../media/image64.png"/><Relationship Id="rId7" Type="http://schemas.openxmlformats.org/officeDocument/2006/relationships/image" Target="../media/image6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6.png"/><Relationship Id="rId4" Type="http://schemas.openxmlformats.org/officeDocument/2006/relationships/image" Target="../media/image12.png"/><Relationship Id="rId5" Type="http://schemas.openxmlformats.org/officeDocument/2006/relationships/image" Target="../media/image67.png"/><Relationship Id="rId6" Type="http://schemas.openxmlformats.org/officeDocument/2006/relationships/image" Target="../media/image71.png"/><Relationship Id="rId7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61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 amt="38000"/>
          </a:blip>
          <a:srcRect b="0" l="0" r="0" t="0"/>
          <a:stretch/>
        </p:blipFill>
        <p:spPr>
          <a:xfrm>
            <a:off x="6903720" y="685800"/>
            <a:ext cx="2194560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5806440" y="2514600"/>
            <a:ext cx="1051560" cy="1051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PROYECTO DE TÍTULO · TPY1101 · ANALISTA PROGRAMADOR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1325880"/>
            <a:ext cx="7772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Event</a:t>
            </a:r>
            <a:r>
              <a:rPr b="1" i="0" lang="en-US" sz="6600" u="none" cap="none" strike="noStrike">
                <a:solidFill>
                  <a:srgbClr val="E67D4F"/>
                </a:solidFill>
                <a:latin typeface="Cambria"/>
                <a:ea typeface="Cambria"/>
                <a:cs typeface="Cambria"/>
                <a:sym typeface="Cambria"/>
              </a:rPr>
              <a:t>Out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2395728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A6B4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AFA6B4"/>
                </a:solidFill>
                <a:latin typeface="Calibri"/>
                <a:ea typeface="Calibri"/>
                <a:cs typeface="Calibri"/>
                <a:sym typeface="Calibri"/>
              </a:rPr>
              <a:t>El panorama perfecto está más cerca de lo que crees.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27614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2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Aplicación web fullstack para descubrir lugares y eventos culturales de Santiago.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3310128"/>
            <a:ext cx="947318" cy="310896"/>
          </a:xfrm>
          <a:prstGeom prst="roundRect">
            <a:avLst>
              <a:gd fmla="val 50000" name="adj"/>
            </a:avLst>
          </a:prstGeom>
          <a:solidFill>
            <a:srgbClr val="26222C"/>
          </a:solidFill>
          <a:ln cap="flat" cmpd="sng" w="12700">
            <a:solidFill>
              <a:srgbClr val="322C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02920" y="3310128"/>
            <a:ext cx="94731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Parques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578254" y="3310128"/>
            <a:ext cx="866851" cy="310896"/>
          </a:xfrm>
          <a:prstGeom prst="roundRect">
            <a:avLst>
              <a:gd fmla="val 50000" name="adj"/>
            </a:avLst>
          </a:prstGeom>
          <a:solidFill>
            <a:srgbClr val="26222C"/>
          </a:solidFill>
          <a:ln cap="flat" cmpd="sng" w="12700">
            <a:solidFill>
              <a:srgbClr val="322C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578254" y="3310128"/>
            <a:ext cx="866851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Museos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573122" y="3310128"/>
            <a:ext cx="1510589" cy="310896"/>
          </a:xfrm>
          <a:prstGeom prst="roundRect">
            <a:avLst>
              <a:gd fmla="val 50000" name="adj"/>
            </a:avLst>
          </a:prstGeom>
          <a:solidFill>
            <a:srgbClr val="26222C"/>
          </a:solidFill>
          <a:ln cap="flat" cmpd="sng" w="12700">
            <a:solidFill>
              <a:srgbClr val="322C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573122" y="3310128"/>
            <a:ext cx="1510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Patrimonio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211726" y="3310128"/>
            <a:ext cx="1269187" cy="310896"/>
          </a:xfrm>
          <a:prstGeom prst="roundRect">
            <a:avLst>
              <a:gd fmla="val 50000" name="adj"/>
            </a:avLst>
          </a:prstGeom>
          <a:solidFill>
            <a:srgbClr val="26222C"/>
          </a:solidFill>
          <a:ln cap="flat" cmpd="sng" w="12700">
            <a:solidFill>
              <a:srgbClr val="322C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211726" y="3310128"/>
            <a:ext cx="1269187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Eventos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502920" y="4041648"/>
            <a:ext cx="8138160" cy="0"/>
          </a:xfrm>
          <a:prstGeom prst="straightConnector1">
            <a:avLst/>
          </a:prstGeom>
          <a:noFill/>
          <a:ln cap="flat" cmpd="sng" w="12700">
            <a:solidFill>
              <a:srgbClr val="322C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502920" y="416052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A6B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FA6B4"/>
                </a:solidFill>
                <a:latin typeface="Calibri"/>
                <a:ea typeface="Calibri"/>
                <a:cs typeface="Calibri"/>
                <a:sym typeface="Calibri"/>
              </a:rPr>
              <a:t>Presentado por</a:t>
            </a:r>
            <a:br>
              <a:rPr b="1" i="0" lang="en-US" sz="900" u="none" cap="none" strike="noStrike">
                <a:solidFill>
                  <a:srgbClr val="AFA6B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Benjamin Gatica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Diego Olmos - Joaquin Gonzalez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035040" y="416052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AFA6B4"/>
                </a:solidFill>
                <a:latin typeface="Calibri"/>
                <a:ea typeface="Calibri"/>
                <a:cs typeface="Calibri"/>
                <a:sym typeface="Calibri"/>
              </a:rPr>
              <a:t>Taller Aplicado de Programación (TPY1101)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lang="en-US" sz="1350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Información fragmentada, sin filtros y sin opiniones confiables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02920" y="1737360"/>
            <a:ext cx="3429000" cy="1691640"/>
          </a:xfrm>
          <a:prstGeom prst="roundRect">
            <a:avLst>
              <a:gd fmla="val 5405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704088" y="1920240"/>
            <a:ext cx="457200" cy="4572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8" y="20345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1252728" y="19202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Causas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22376" y="2395728"/>
            <a:ext cx="300837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Oferta dispersa en múltiples sitios y redes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Sin filtros por comuna, categoría o costo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Opiniones escasas o poco confiables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Difícil hallar panoramas gratuitos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041648" y="2482596"/>
            <a:ext cx="50292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754880" y="1737360"/>
            <a:ext cx="3429000" cy="1691640"/>
          </a:xfrm>
          <a:prstGeom prst="roundRect">
            <a:avLst>
              <a:gd fmla="val 5405" name="adj"/>
            </a:avLst>
          </a:prstGeom>
          <a:solidFill>
            <a:srgbClr val="17161C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956048" y="1920240"/>
            <a:ext cx="457200" cy="457200"/>
          </a:xfrm>
          <a:prstGeom prst="ellipse">
            <a:avLst/>
          </a:prstGeom>
          <a:solidFill>
            <a:srgbClr val="E67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0348" y="20345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5504688" y="19202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Efectos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974336" y="2395728"/>
            <a:ext cx="300837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7E2EC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E7E2EC"/>
                </a:solidFill>
                <a:latin typeface="Calibri"/>
                <a:ea typeface="Calibri"/>
                <a:cs typeface="Calibri"/>
                <a:sym typeface="Calibri"/>
              </a:rPr>
              <a:t>Tiempo perdido buscando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7E2EC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E7E2EC"/>
                </a:solidFill>
                <a:latin typeface="Calibri"/>
                <a:ea typeface="Calibri"/>
                <a:cs typeface="Calibri"/>
                <a:sym typeface="Calibri"/>
              </a:rPr>
              <a:t>Decisiones a ciegas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7E2EC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E7E2EC"/>
                </a:solidFill>
                <a:latin typeface="Calibri"/>
                <a:ea typeface="Calibri"/>
                <a:cs typeface="Calibri"/>
                <a:sym typeface="Calibri"/>
              </a:rPr>
              <a:t>Baja participación en la cultura local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7E2EC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E7E2EC"/>
                </a:solidFill>
                <a:latin typeface="Calibri"/>
                <a:ea typeface="Calibri"/>
                <a:cs typeface="Calibri"/>
                <a:sym typeface="Calibri"/>
              </a:rPr>
              <a:t>Oferta cultural subutilizada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02920" y="3657600"/>
            <a:ext cx="8138160" cy="914400"/>
          </a:xfrm>
          <a:prstGeom prst="roundRect">
            <a:avLst>
              <a:gd fmla="val 10000" name="adj"/>
            </a:avLst>
          </a:prstGeom>
          <a:solidFill>
            <a:srgbClr val="F5EBE0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722376" y="3886200"/>
            <a:ext cx="457200" cy="457200"/>
          </a:xfrm>
          <a:prstGeom prst="ellipse">
            <a:avLst/>
          </a:prstGeom>
          <a:solidFill>
            <a:srgbClr val="D98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104" y="39959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1289304" y="3657600"/>
            <a:ext cx="7132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Justificación   </a:t>
            </a:r>
            <a:r>
              <a:rPr b="0" i="0" lang="en-US" sz="11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Una sola plataforma con mapa interactivo, filtros y reseñas colaborativas resuelve la fragmentación y aporta confianza mediante la comunidad.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Objetivo general y objetivos específicos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02920" y="1691640"/>
            <a:ext cx="8138160" cy="1097280"/>
          </a:xfrm>
          <a:prstGeom prst="roundRect">
            <a:avLst>
              <a:gd fmla="val 8333" name="adj"/>
            </a:avLst>
          </a:prstGeom>
          <a:solidFill>
            <a:srgbClr val="17161C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758952" y="1984248"/>
            <a:ext cx="530352" cy="53035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933" y="2106229"/>
            <a:ext cx="286390" cy="28639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1463040" y="187452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463040" y="2112264"/>
            <a:ext cx="6949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web fullstack que centralice el descubrimiento de lugares y eventos culturales y recreativos de Santiago, con una comunidad de reseñas colaborativas.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02920" y="3063240"/>
            <a:ext cx="3995928" cy="1417320"/>
          </a:xfrm>
          <a:prstGeom prst="roundRect">
            <a:avLst>
              <a:gd fmla="val 6452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22376" y="3282696"/>
            <a:ext cx="512064" cy="512064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271" y="3405591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1380744" y="3282696"/>
            <a:ext cx="2990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ESPECÍFICO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380744" y="3483864"/>
            <a:ext cx="29900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Catálogo, filtros y mapa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22376" y="3904488"/>
            <a:ext cx="3557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Búsqueda y filtros por categoría, comuna y costo, con un mapa interactivo georreferenciado de lugares y eventos.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645152" y="3063240"/>
            <a:ext cx="3995928" cy="1417320"/>
          </a:xfrm>
          <a:prstGeom prst="roundRect">
            <a:avLst>
              <a:gd fmla="val 6452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864608" y="3282696"/>
            <a:ext cx="512064" cy="512064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7503" y="3405591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5522976" y="3282696"/>
            <a:ext cx="2990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ESPECÍFICO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522976" y="3483864"/>
            <a:ext cx="29900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Comunidad y administración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864608" y="3904488"/>
            <a:ext cx="3557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Reseñas y votación con autenticación segura (JWT) y un panel de administración para moderar y gestionar contenido.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TECNOLOGÍAS Y JUSTIFICACIÓN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Stack elegido y por qué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502920" y="1691640"/>
            <a:ext cx="2624328" cy="2148840"/>
          </a:xfrm>
          <a:prstGeom prst="roundRect">
            <a:avLst>
              <a:gd fmla="val 4255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722376" y="1874520"/>
            <a:ext cx="457200" cy="4572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104" y="1984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>
            <a:off x="1271016" y="1874520"/>
            <a:ext cx="1709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Frontend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740664" y="2313432"/>
            <a:ext cx="2167128" cy="143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React 19 + Vite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Tailwind CSS v4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React Router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React-Leaflet / Leaflet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lucide-react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3259836" y="1691640"/>
            <a:ext cx="2624328" cy="2148840"/>
          </a:xfrm>
          <a:prstGeom prst="roundRect">
            <a:avLst>
              <a:gd fmla="val 4255" name="adj"/>
            </a:avLst>
          </a:prstGeom>
          <a:solidFill>
            <a:srgbClr val="17161C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3479292" y="1874520"/>
            <a:ext cx="457200" cy="457200"/>
          </a:xfrm>
          <a:prstGeom prst="ellipse">
            <a:avLst/>
          </a:prstGeom>
          <a:solidFill>
            <a:srgbClr val="E67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9020" y="1984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/>
          <p:nvPr/>
        </p:nvSpPr>
        <p:spPr>
          <a:xfrm>
            <a:off x="4027932" y="1874520"/>
            <a:ext cx="1709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3497580" y="2313432"/>
            <a:ext cx="2167128" cy="143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2D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Spring Boot 3.5 · Java 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D8D2D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Data JPA · Security ·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D8D2D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MySQL 8 · Hibernate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D8D2D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JJWT 0.12.6 · BCrypt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D8D2D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springdoc (Swagger) · Lombok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6016752" y="1691640"/>
            <a:ext cx="2624328" cy="2148840"/>
          </a:xfrm>
          <a:prstGeom prst="roundRect">
            <a:avLst>
              <a:gd fmla="val 4255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6236208" y="1874520"/>
            <a:ext cx="457200" cy="4572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5936" y="1984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9"/>
          <p:cNvSpPr/>
          <p:nvPr/>
        </p:nvSpPr>
        <p:spPr>
          <a:xfrm>
            <a:off x="6784848" y="1874520"/>
            <a:ext cx="1709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Pruebas y tooling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6254496" y="2313432"/>
            <a:ext cx="2167128" cy="143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JUnit 5 + Mockito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Vitest + Testing Library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Maven (wrapper) · npm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ESLint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Git / GitHub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502920" y="3977640"/>
            <a:ext cx="8138160" cy="868680"/>
          </a:xfrm>
          <a:prstGeom prst="roundRect">
            <a:avLst>
              <a:gd fmla="val 10526" name="adj"/>
            </a:avLst>
          </a:prstGeom>
          <a:solidFill>
            <a:srgbClr val="F5EBE0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722376" y="4178808"/>
            <a:ext cx="457200" cy="457200"/>
          </a:xfrm>
          <a:prstGeom prst="ellipse">
            <a:avLst/>
          </a:prstGeom>
          <a:solidFill>
            <a:srgbClr val="3C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2104" y="42885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9"/>
          <p:cNvSpPr/>
          <p:nvPr/>
        </p:nvSpPr>
        <p:spPr>
          <a:xfrm>
            <a:off x="1271016" y="3977640"/>
            <a:ext cx="7132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¿Por qué así?   </a:t>
            </a:r>
            <a:r>
              <a:rPr b="0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SPA desacoplada de una API REST: el frontend se publica en </a:t>
            </a:r>
            <a: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r>
              <a:rPr b="0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 (CDN + CI/CD) y la API stateless (JWT) queda lista para contenedores y nube — </a:t>
            </a:r>
            <a:r>
              <a:rPr b="0" i="1" lang="en-US" sz="10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Docker + AWS como ruta futura.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METODOLOGÍA, PLAN DE TRABAJO Y EQUIPO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Cómo se organizó y construyó 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6"/>
          <p:cNvCxnSpPr/>
          <p:nvPr/>
        </p:nvCxnSpPr>
        <p:spPr>
          <a:xfrm>
            <a:off x="1371600" y="2103120"/>
            <a:ext cx="1261872" cy="0"/>
          </a:xfrm>
          <a:prstGeom prst="straightConnector1">
            <a:avLst/>
          </a:prstGeom>
          <a:noFill/>
          <a:ln cap="flat" cmpd="sng" w="19050">
            <a:solidFill>
              <a:srgbClr val="C04F2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4" name="Google Shape;124;p6"/>
          <p:cNvCxnSpPr/>
          <p:nvPr/>
        </p:nvCxnSpPr>
        <p:spPr>
          <a:xfrm>
            <a:off x="3090672" y="2103120"/>
            <a:ext cx="1252728" cy="0"/>
          </a:xfrm>
          <a:prstGeom prst="straightConnector1">
            <a:avLst/>
          </a:prstGeom>
          <a:noFill/>
          <a:ln cap="flat" cmpd="sng" w="19050">
            <a:solidFill>
              <a:srgbClr val="C04F2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5" name="Google Shape;125;p6"/>
          <p:cNvCxnSpPr/>
          <p:nvPr/>
        </p:nvCxnSpPr>
        <p:spPr>
          <a:xfrm>
            <a:off x="4800600" y="2103120"/>
            <a:ext cx="1252728" cy="0"/>
          </a:xfrm>
          <a:prstGeom prst="straightConnector1">
            <a:avLst/>
          </a:prstGeom>
          <a:noFill/>
          <a:ln cap="flat" cmpd="sng" w="19050">
            <a:solidFill>
              <a:srgbClr val="C04F2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" name="Google Shape;126;p6"/>
          <p:cNvCxnSpPr/>
          <p:nvPr/>
        </p:nvCxnSpPr>
        <p:spPr>
          <a:xfrm>
            <a:off x="6510528" y="2103120"/>
            <a:ext cx="1261872" cy="0"/>
          </a:xfrm>
          <a:prstGeom prst="straightConnector1">
            <a:avLst/>
          </a:prstGeom>
          <a:noFill/>
          <a:ln cap="flat" cmpd="sng" w="19050">
            <a:solidFill>
              <a:srgbClr val="C04F2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7" name="Google Shape;127;p6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17161C"/>
          </a:solidFill>
          <a:ln cap="flat" cmpd="sng" w="12700">
            <a:solidFill>
              <a:srgbClr val="1716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20040" y="2386584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y diseño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633472" y="1874520"/>
            <a:ext cx="457200" cy="457200"/>
          </a:xfrm>
          <a:prstGeom prst="ellipse">
            <a:avLst/>
          </a:prstGeom>
          <a:solidFill>
            <a:srgbClr val="17161C"/>
          </a:solidFill>
          <a:ln cap="flat" cmpd="sng" w="12700">
            <a:solidFill>
              <a:srgbClr val="1716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2633472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039112" y="2386584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(MVVM)</a:t>
            </a:r>
            <a:endParaRPr b="1" sz="950">
              <a:solidFill>
                <a:srgbClr val="2A2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343400" y="1874520"/>
            <a:ext cx="457200" cy="457200"/>
          </a:xfrm>
          <a:prstGeom prst="ellipse">
            <a:avLst/>
          </a:prstGeom>
          <a:solidFill>
            <a:srgbClr val="17161C"/>
          </a:solidFill>
          <a:ln cap="flat" cmpd="sng" w="12700">
            <a:solidFill>
              <a:srgbClr val="1716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34340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749040" y="2386584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+ BD</a:t>
            </a:r>
            <a:endParaRPr b="1" sz="950">
              <a:solidFill>
                <a:srgbClr val="2A2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053328" y="1874520"/>
            <a:ext cx="457200" cy="457200"/>
          </a:xfrm>
          <a:prstGeom prst="ellipse">
            <a:avLst/>
          </a:prstGeom>
          <a:solidFill>
            <a:srgbClr val="17161C"/>
          </a:solidFill>
          <a:ln cap="flat" cmpd="sng" w="12700">
            <a:solidFill>
              <a:srgbClr val="1716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053328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458968" y="2386584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772400" y="1874520"/>
            <a:ext cx="457200" cy="457200"/>
          </a:xfrm>
          <a:prstGeom prst="ellipse">
            <a:avLst/>
          </a:prstGeom>
          <a:solidFill>
            <a:srgbClr val="C04F23"/>
          </a:solidFill>
          <a:ln cap="flat" cmpd="sng" w="12700">
            <a:solidFill>
              <a:srgbClr val="C04F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777240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178040" y="2386584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Pruebas 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02920" y="3200400"/>
            <a:ext cx="4160520" cy="1371600"/>
          </a:xfrm>
          <a:prstGeom prst="roundRect">
            <a:avLst>
              <a:gd fmla="val 6667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704088" y="3383280"/>
            <a:ext cx="420624" cy="420624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244" y="3488436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1216152" y="3383280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Enfoque metodológico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22376" y="3785616"/>
            <a:ext cx="3739896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Iterativo e incremental (entregas parciales por avances)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Patrón por capas en backend + MVVM en frontend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Control de versiones con Git / GitHub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809744" y="3200400"/>
            <a:ext cx="3831336" cy="1371600"/>
          </a:xfrm>
          <a:prstGeom prst="roundRect">
            <a:avLst>
              <a:gd fmla="val 6667" name="adj"/>
            </a:avLst>
          </a:prstGeom>
          <a:solidFill>
            <a:srgbClr val="17161C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029200" y="3364992"/>
            <a:ext cx="33741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Equipo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029200" y="3657600"/>
            <a:ext cx="237744" cy="237744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029200" y="365760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358384" y="3639312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Benjamin Gatica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029200" y="3950208"/>
            <a:ext cx="237744" cy="237744"/>
          </a:xfrm>
          <a:prstGeom prst="ellipse">
            <a:avLst/>
          </a:prstGeom>
          <a:solidFill>
            <a:srgbClr val="D98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029200" y="395020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358384" y="3931920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Diego Olmos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029200" y="4242816"/>
            <a:ext cx="237744" cy="237744"/>
          </a:xfrm>
          <a:prstGeom prst="ellipse">
            <a:avLst/>
          </a:prstGeom>
          <a:solidFill>
            <a:srgbClr val="3C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029200" y="424281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358384" y="4224528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Joaquín González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Entregables,</a:t>
            </a:r>
            <a:r>
              <a:rPr b="1" lang="en-US" sz="3000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requerido</a:t>
            </a: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, restricciones y </a:t>
            </a:r>
            <a:r>
              <a:rPr b="1" lang="en-US" sz="3000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futuro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02920" y="1691640"/>
            <a:ext cx="3995928" cy="1371600"/>
          </a:xfrm>
          <a:prstGeom prst="roundRect">
            <a:avLst>
              <a:gd fmla="val 6667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704088" y="1874520"/>
            <a:ext cx="457200" cy="4572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8" y="19888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1252728" y="1874520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Entregables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22376" y="2295144"/>
            <a:ext cx="357530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SPA React + API REST Spring Boot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Base de datos MySQL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Documentación (informe + Swagger)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Suite de pruebas automatizadas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645152" y="1691640"/>
            <a:ext cx="3995928" cy="1371600"/>
          </a:xfrm>
          <a:prstGeom prst="roundRect">
            <a:avLst>
              <a:gd fmla="val 6667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4846320" y="1874520"/>
            <a:ext cx="457200" cy="457200"/>
          </a:xfrm>
          <a:prstGeom prst="ellipse">
            <a:avLst/>
          </a:prstGeom>
          <a:solidFill>
            <a:srgbClr val="3C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0620" y="19888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/>
          <p:nvPr/>
        </p:nvSpPr>
        <p:spPr>
          <a:xfrm>
            <a:off x="5394960" y="1874520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400"/>
              <a:buFont typeface="Cambria"/>
              <a:buNone/>
            </a:pPr>
            <a:r>
              <a:rPr b="1" lang="en-US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Requerido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864608" y="2295144"/>
            <a:ext cx="357530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Navegador moderno con conexión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Datos semilla de lugares/eventos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Área geográfica: Santiago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02920" y="3209544"/>
            <a:ext cx="3995928" cy="1371600"/>
          </a:xfrm>
          <a:prstGeom prst="roundRect">
            <a:avLst>
              <a:gd fmla="val 6667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704088" y="3392424"/>
            <a:ext cx="457200" cy="457200"/>
          </a:xfrm>
          <a:prstGeom prst="ellipse">
            <a:avLst/>
          </a:prstGeom>
          <a:solidFill>
            <a:srgbClr val="1716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388" y="35067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/>
          <p:nvPr/>
        </p:nvSpPr>
        <p:spPr>
          <a:xfrm>
            <a:off x="1252728" y="3392424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Restricciones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22376" y="3813048"/>
            <a:ext cx="357530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Alcance y plazos académicos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Backend y BD</a:t>
            </a: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 en entorno loca</a:t>
            </a: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Precio informativo (sin pagos)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645152" y="3209544"/>
            <a:ext cx="3995928" cy="1371600"/>
          </a:xfrm>
          <a:prstGeom prst="roundRect">
            <a:avLst>
              <a:gd fmla="val 6667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4846320" y="3392424"/>
            <a:ext cx="457200" cy="457200"/>
          </a:xfrm>
          <a:prstGeom prst="ellipse">
            <a:avLst/>
          </a:prstGeom>
          <a:solidFill>
            <a:srgbClr val="9B3D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0620" y="35067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/>
          <p:nvPr/>
        </p:nvSpPr>
        <p:spPr>
          <a:xfrm>
            <a:off x="5394960" y="3392424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400"/>
              <a:buFont typeface="Cambria"/>
              <a:buNone/>
            </a:pPr>
            <a:r>
              <a:rPr b="1" lang="en-US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Futuro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864608" y="3813048"/>
            <a:ext cx="357530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Pasarela de pagos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Recuperación de clave por correo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App móvil nativa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" name="Google Shape;1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ANÁLISIS DE REQUERIMIENTOS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Qué debe hacer y con qué atributos de calidad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02920" y="1691640"/>
            <a:ext cx="4114800" cy="2971800"/>
          </a:xfrm>
          <a:prstGeom prst="roundRect">
            <a:avLst>
              <a:gd fmla="val 3077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722376" y="1892808"/>
            <a:ext cx="457200" cy="4572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76" y="20071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/>
          <p:nvPr/>
        </p:nvSpPr>
        <p:spPr>
          <a:xfrm>
            <a:off x="1289304" y="189280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Funcionales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40664" y="2331720"/>
            <a:ext cx="36576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 (JWT)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Explorar y filtrar lugares y eventos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Mapa interactivo georreferenciado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Publicar reseñas (usuarios autenticados)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Votar reseñas (like / dislike, único por usuario)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Guardar favoritos (lugar o evento)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Proponer eventos (moderados por admin)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Panel de administración (CRUD + moderación)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837176" y="1691640"/>
            <a:ext cx="3877056" cy="2971800"/>
          </a:xfrm>
          <a:prstGeom prst="roundRect">
            <a:avLst>
              <a:gd fmla="val 3077" name="adj"/>
            </a:avLst>
          </a:prstGeom>
          <a:solidFill>
            <a:srgbClr val="17161C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056632" y="1892808"/>
            <a:ext cx="457200" cy="457200"/>
          </a:xfrm>
          <a:prstGeom prst="ellipse">
            <a:avLst/>
          </a:prstGeom>
          <a:solidFill>
            <a:srgbClr val="E67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0932" y="20071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5623560" y="1892808"/>
            <a:ext cx="2962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 funcionales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074920" y="2404872"/>
            <a:ext cx="34198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Seguridad  </a:t>
            </a:r>
            <a:r>
              <a:rPr b="0" i="0" lang="en-US" sz="100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JWT · BCrypt · rutas por 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074920" y="2770632"/>
            <a:ext cx="34198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Rendimiento  </a:t>
            </a:r>
            <a:r>
              <a:rPr b="0" i="0" lang="en-US" sz="100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carga diferida · consultas agregadas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074920" y="3136392"/>
            <a:ext cx="34198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Usabilidad  </a:t>
            </a:r>
            <a:r>
              <a:rPr lang="en-US" sz="1000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00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esponsive (Tailwind)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074920" y="3502152"/>
            <a:ext cx="34198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Mantenibilidad  </a:t>
            </a:r>
            <a:r>
              <a:rPr b="0" i="0" lang="en-US" sz="100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MVVM + capas · DTOs · mappers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074920" y="3867912"/>
            <a:ext cx="34198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Calidad  </a:t>
            </a:r>
            <a:r>
              <a:rPr b="0" i="0" lang="en-US" sz="100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pruebas + validación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074920" y="4233672"/>
            <a:ext cx="34198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Documentación  </a:t>
            </a:r>
            <a:r>
              <a:rPr b="0" i="0" lang="en-US" sz="1000" u="none" cap="none" strike="noStrik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API con Swagger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0" name="Google Shape;2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DISEÑO DE LA BASE DE DATOS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Modelo relacional: 7 entidades en MySQL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48640" y="1572768"/>
            <a:ext cx="1600200" cy="854964"/>
          </a:xfrm>
          <a:prstGeom prst="roundRect">
            <a:avLst>
              <a:gd fmla="val 5348" name="adj"/>
            </a:avLst>
          </a:prstGeom>
          <a:solidFill>
            <a:srgbClr val="FFFFFF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548640" y="1572768"/>
            <a:ext cx="1600200" cy="292608"/>
          </a:xfrm>
          <a:prstGeom prst="roundRect">
            <a:avLst>
              <a:gd fmla="val 15625" name="adj"/>
            </a:avLst>
          </a:prstGeom>
          <a:solidFill>
            <a:srgbClr val="3C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548640" y="1792224"/>
            <a:ext cx="1600200" cy="73152"/>
          </a:xfrm>
          <a:prstGeom prst="rect">
            <a:avLst/>
          </a:prstGeom>
          <a:solidFill>
            <a:srgbClr val="3C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548640" y="1572768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40080" y="1883664"/>
            <a:ext cx="143560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1" i="0" lang="en-US" sz="750" u="sng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id_categoria 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40080" y="2052828"/>
            <a:ext cx="143560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40080" y="2221992"/>
            <a:ext cx="143560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icono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48640" y="2697480"/>
            <a:ext cx="1737360" cy="1024128"/>
          </a:xfrm>
          <a:prstGeom prst="roundRect">
            <a:avLst>
              <a:gd fmla="val 4464" name="adj"/>
            </a:avLst>
          </a:prstGeom>
          <a:solidFill>
            <a:srgbClr val="FFFFFF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548640" y="2697480"/>
            <a:ext cx="1737360" cy="292608"/>
          </a:xfrm>
          <a:prstGeom prst="roundRect">
            <a:avLst>
              <a:gd fmla="val 15625" name="adj"/>
            </a:avLst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548640" y="2916936"/>
            <a:ext cx="1737360" cy="73152"/>
          </a:xfrm>
          <a:prstGeom prst="rect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548640" y="26974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lugar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40080" y="3008376"/>
            <a:ext cx="157276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1" i="0" lang="en-US" sz="750" u="sng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id_lugar 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40080" y="3177540"/>
            <a:ext cx="157276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id_categoria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40080" y="3346704"/>
            <a:ext cx="157276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comuna · lat · long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40080" y="3515868"/>
            <a:ext cx="157276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es_gratuito · precio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200400" y="1737360"/>
            <a:ext cx="1874520" cy="1024128"/>
          </a:xfrm>
          <a:prstGeom prst="roundRect">
            <a:avLst>
              <a:gd fmla="val 4464" name="adj"/>
            </a:avLst>
          </a:prstGeom>
          <a:solidFill>
            <a:srgbClr val="FFFFFF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200400" y="1737360"/>
            <a:ext cx="1874520" cy="292608"/>
          </a:xfrm>
          <a:prstGeom prst="roundRect">
            <a:avLst>
              <a:gd fmla="val 15625" name="adj"/>
            </a:avLst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3200400" y="1956816"/>
            <a:ext cx="1874520" cy="73152"/>
          </a:xfrm>
          <a:prstGeom prst="rect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3200400" y="1737360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291840" y="2048256"/>
            <a:ext cx="170992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1" i="0" lang="en-US" sz="750" u="sng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id_evento 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291840" y="2217420"/>
            <a:ext cx="170992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id_lugar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3291840" y="2386584"/>
            <a:ext cx="170992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id_usuario_propuso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291840" y="2555748"/>
            <a:ext cx="170992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fecha_inicio / fin · estado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3200400" y="3429000"/>
            <a:ext cx="1874520" cy="854964"/>
          </a:xfrm>
          <a:prstGeom prst="roundRect">
            <a:avLst>
              <a:gd fmla="val 5348" name="adj"/>
            </a:avLst>
          </a:prstGeom>
          <a:solidFill>
            <a:srgbClr val="FFFFFF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3200400" y="3429000"/>
            <a:ext cx="1874520" cy="292608"/>
          </a:xfrm>
          <a:prstGeom prst="roundRect">
            <a:avLst>
              <a:gd fmla="val 15625" name="adj"/>
            </a:avLst>
          </a:prstGeom>
          <a:solidFill>
            <a:srgbClr val="1716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3200400" y="3648456"/>
            <a:ext cx="1874520" cy="73152"/>
          </a:xfrm>
          <a:prstGeom prst="rect">
            <a:avLst/>
          </a:prstGeom>
          <a:solidFill>
            <a:srgbClr val="1716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3200400" y="3429000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favorito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291840" y="3739896"/>
            <a:ext cx="170992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1" i="0" lang="en-US" sz="750" u="sng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id_favorito 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291840" y="3909060"/>
            <a:ext cx="170992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id_usuario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3291840" y="4078224"/>
            <a:ext cx="170992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id_lugar / id_evento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400800" y="1572768"/>
            <a:ext cx="1920240" cy="1024128"/>
          </a:xfrm>
          <a:prstGeom prst="roundRect">
            <a:avLst>
              <a:gd fmla="val 4464" name="adj"/>
            </a:avLst>
          </a:prstGeom>
          <a:solidFill>
            <a:srgbClr val="FFFFFF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6400800" y="1572768"/>
            <a:ext cx="1920240" cy="292608"/>
          </a:xfrm>
          <a:prstGeom prst="roundRect">
            <a:avLst>
              <a:gd fmla="val 15625" name="adj"/>
            </a:avLst>
          </a:prstGeom>
          <a:solidFill>
            <a:srgbClr val="1716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400800" y="1792224"/>
            <a:ext cx="1920240" cy="73152"/>
          </a:xfrm>
          <a:prstGeom prst="rect">
            <a:avLst/>
          </a:prstGeom>
          <a:solidFill>
            <a:srgbClr val="1716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6400800" y="157276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492240" y="1883664"/>
            <a:ext cx="1755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1" i="0" lang="en-US" sz="750" u="sng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id_usuario 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492240" y="2052828"/>
            <a:ext cx="1755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email (UQ) · nombre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492240" y="2221992"/>
            <a:ext cx="1755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password_hash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492240" y="2391156"/>
            <a:ext cx="1755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rol · estado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400800" y="2926080"/>
            <a:ext cx="1920240" cy="1024128"/>
          </a:xfrm>
          <a:prstGeom prst="roundRect">
            <a:avLst>
              <a:gd fmla="val 4464" name="adj"/>
            </a:avLst>
          </a:prstGeom>
          <a:solidFill>
            <a:srgbClr val="FFFFFF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6400800" y="2926080"/>
            <a:ext cx="1920240" cy="292608"/>
          </a:xfrm>
          <a:prstGeom prst="roundRect">
            <a:avLst>
              <a:gd fmla="val 15625" name="adj"/>
            </a:avLst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6400800" y="3145536"/>
            <a:ext cx="1920240" cy="73152"/>
          </a:xfrm>
          <a:prstGeom prst="rect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6400800" y="29260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492240" y="3236976"/>
            <a:ext cx="1755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1" i="0" lang="en-US" sz="750" u="sng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id_resena 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492240" y="3406140"/>
            <a:ext cx="1755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id_usuario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492240" y="3575304"/>
            <a:ext cx="1755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id_lugar / id_evento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6492240" y="3744468"/>
            <a:ext cx="1755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puntuacion · estado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400800" y="4224528"/>
            <a:ext cx="1920240" cy="854964"/>
          </a:xfrm>
          <a:prstGeom prst="roundRect">
            <a:avLst>
              <a:gd fmla="val 5348" name="adj"/>
            </a:avLst>
          </a:prstGeom>
          <a:solidFill>
            <a:srgbClr val="FFFFFF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400800" y="4224528"/>
            <a:ext cx="1920240" cy="292608"/>
          </a:xfrm>
          <a:prstGeom prst="roundRect">
            <a:avLst>
              <a:gd fmla="val 15625" name="adj"/>
            </a:avLst>
          </a:prstGeom>
          <a:solidFill>
            <a:srgbClr val="3C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6400800" y="4443984"/>
            <a:ext cx="1920240" cy="73152"/>
          </a:xfrm>
          <a:prstGeom prst="rect">
            <a:avLst/>
          </a:prstGeom>
          <a:solidFill>
            <a:srgbClr val="3C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6400800" y="42245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voto_resena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492240" y="4535424"/>
            <a:ext cx="1755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1" i="0" lang="en-US" sz="750" u="sng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id_voto 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6492240" y="4704588"/>
            <a:ext cx="1755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id_usuario · id_resena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492240" y="4873752"/>
            <a:ext cx="1755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es_positivo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0"/>
          <p:cNvCxnSpPr/>
          <p:nvPr/>
        </p:nvCxnSpPr>
        <p:spPr>
          <a:xfrm>
            <a:off x="1348740" y="2427732"/>
            <a:ext cx="68580" cy="269748"/>
          </a:xfrm>
          <a:prstGeom prst="straightConnector1">
            <a:avLst/>
          </a:prstGeom>
          <a:noFill/>
          <a:ln cap="flat" cmpd="sng" w="19050">
            <a:solidFill>
              <a:srgbClr val="C04F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10"/>
          <p:cNvSpPr/>
          <p:nvPr/>
        </p:nvSpPr>
        <p:spPr>
          <a:xfrm>
            <a:off x="1239012" y="2299716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1307592" y="2569464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0"/>
          <p:cNvCxnSpPr/>
          <p:nvPr/>
        </p:nvCxnSpPr>
        <p:spPr>
          <a:xfrm flipH="1" rot="10800000">
            <a:off x="2286000" y="2057400"/>
            <a:ext cx="914400" cy="868680"/>
          </a:xfrm>
          <a:prstGeom prst="straightConnector1">
            <a:avLst/>
          </a:prstGeom>
          <a:noFill/>
          <a:ln cap="flat" cmpd="sng" w="19050">
            <a:solidFill>
              <a:srgbClr val="C04F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0"/>
          <p:cNvSpPr/>
          <p:nvPr/>
        </p:nvSpPr>
        <p:spPr>
          <a:xfrm>
            <a:off x="2176272" y="2798064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3090672" y="1929384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0"/>
          <p:cNvCxnSpPr/>
          <p:nvPr/>
        </p:nvCxnSpPr>
        <p:spPr>
          <a:xfrm>
            <a:off x="7360920" y="2596896"/>
            <a:ext cx="0" cy="329184"/>
          </a:xfrm>
          <a:prstGeom prst="straightConnector1">
            <a:avLst/>
          </a:prstGeom>
          <a:noFill/>
          <a:ln cap="flat" cmpd="sng" w="19050">
            <a:solidFill>
              <a:srgbClr val="C04F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0"/>
          <p:cNvSpPr/>
          <p:nvPr/>
        </p:nvSpPr>
        <p:spPr>
          <a:xfrm>
            <a:off x="7251192" y="2468880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7251192" y="2798064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10"/>
          <p:cNvCxnSpPr/>
          <p:nvPr/>
        </p:nvCxnSpPr>
        <p:spPr>
          <a:xfrm>
            <a:off x="5074920" y="2240280"/>
            <a:ext cx="1325880" cy="1005840"/>
          </a:xfrm>
          <a:prstGeom prst="straightConnector1">
            <a:avLst/>
          </a:prstGeom>
          <a:noFill/>
          <a:ln cap="flat" cmpd="sng" w="19050">
            <a:solidFill>
              <a:srgbClr val="C04F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0"/>
          <p:cNvSpPr/>
          <p:nvPr/>
        </p:nvSpPr>
        <p:spPr>
          <a:xfrm>
            <a:off x="4965192" y="2112264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291072" y="3118104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10"/>
          <p:cNvCxnSpPr/>
          <p:nvPr/>
        </p:nvCxnSpPr>
        <p:spPr>
          <a:xfrm>
            <a:off x="7360920" y="3950208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C04F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0"/>
          <p:cNvSpPr/>
          <p:nvPr/>
        </p:nvSpPr>
        <p:spPr>
          <a:xfrm>
            <a:off x="7251192" y="3822192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7251192" y="4096512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0"/>
          <p:cNvCxnSpPr/>
          <p:nvPr/>
        </p:nvCxnSpPr>
        <p:spPr>
          <a:xfrm flipH="1">
            <a:off x="5074920" y="2075688"/>
            <a:ext cx="1325880" cy="1627632"/>
          </a:xfrm>
          <a:prstGeom prst="straightConnector1">
            <a:avLst/>
          </a:prstGeom>
          <a:noFill/>
          <a:ln cap="flat" cmpd="sng" w="19050">
            <a:solidFill>
              <a:srgbClr val="C04F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0"/>
          <p:cNvSpPr/>
          <p:nvPr/>
        </p:nvSpPr>
        <p:spPr>
          <a:xfrm>
            <a:off x="6291072" y="1947672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965192" y="3575304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102500" y="4553708"/>
            <a:ext cx="8092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850"/>
              <a:buFont typeface="Calibri"/>
              <a:buNone/>
            </a:pPr>
            <a:r>
              <a:rPr b="1" i="0" lang="en-US" sz="850" u="sng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PK </a:t>
            </a:r>
            <a:r>
              <a:rPr b="0" i="0" lang="en-US" sz="8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clave primaria · </a:t>
            </a:r>
            <a:r>
              <a:rPr b="0" i="1" lang="en-US" sz="8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FK </a:t>
            </a:r>
            <a:r>
              <a:rPr b="0" i="0" lang="en-US" sz="8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clave foránea · </a:t>
            </a:r>
            <a:r>
              <a:rPr b="1" i="0" lang="en-US" sz="85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1—N </a:t>
            </a:r>
            <a:r>
              <a:rPr b="0" i="0" lang="en-US" sz="8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uno-a-muchos · PKs UUID CHAR(36) · </a:t>
            </a:r>
            <a:endParaRPr b="0" i="0" sz="850" u="none" cap="none" strike="noStrike">
              <a:solidFill>
                <a:srgbClr val="6C64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reseña y favorito → lugar </a:t>
            </a:r>
            <a:r>
              <a:rPr b="1" i="0" lang="en-US" sz="8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XOR</a:t>
            </a:r>
            <a:r>
              <a:rPr b="0" i="0" lang="en-US" sz="8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evento (validado en el servicio)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0" name="Google Shape;30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1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SEGURIDAD DE LA APLICACIÓN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Autenticación stateless con JWT y control por roles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02920" y="166420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EMISIÓN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502920" y="1901952"/>
            <a:ext cx="1825142" cy="384048"/>
          </a:xfrm>
          <a:prstGeom prst="roundRect">
            <a:avLst>
              <a:gd fmla="val 19048" name="adj"/>
            </a:avLst>
          </a:prstGeom>
          <a:solidFill>
            <a:srgbClr val="F5EBE0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502920" y="1901952"/>
            <a:ext cx="182514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Login (email + clave)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2364638" y="1993392"/>
            <a:ext cx="237744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2675534" y="1901952"/>
            <a:ext cx="2867558" cy="384048"/>
          </a:xfrm>
          <a:prstGeom prst="roundRect">
            <a:avLst>
              <a:gd fmla="val 19048" name="adj"/>
            </a:avLst>
          </a:prstGeom>
          <a:solidFill>
            <a:srgbClr val="F5EBE0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2675534" y="1901952"/>
            <a:ext cx="286755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JWT HS256 firmado (id · email · rol)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579669" y="1993392"/>
            <a:ext cx="237744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5890565" y="1901952"/>
            <a:ext cx="1894637" cy="384048"/>
          </a:xfrm>
          <a:prstGeom prst="roundRect">
            <a:avLst>
              <a:gd fmla="val 19048" name="adj"/>
            </a:avLst>
          </a:prstGeom>
          <a:solidFill>
            <a:srgbClr val="F5EBE0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890565" y="1901952"/>
            <a:ext cx="189463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Guardado en el cliente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502920" y="248716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USO EN CADA PETICIÓN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502920" y="2724912"/>
            <a:ext cx="1863547" cy="384048"/>
          </a:xfrm>
          <a:prstGeom prst="roundRect">
            <a:avLst>
              <a:gd fmla="val 19048" name="adj"/>
            </a:avLst>
          </a:prstGeom>
          <a:solidFill>
            <a:srgbClr val="1716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502920" y="2724912"/>
            <a:ext cx="186354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Authorization: Bearer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2403043" y="2816352"/>
            <a:ext cx="237744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8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2713939" y="2724912"/>
            <a:ext cx="2648102" cy="384048"/>
          </a:xfrm>
          <a:prstGeom prst="roundRect">
            <a:avLst>
              <a:gd fmla="val 19048" name="adj"/>
            </a:avLst>
          </a:prstGeom>
          <a:solidFill>
            <a:srgbClr val="1716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2713939" y="2724912"/>
            <a:ext cx="264810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Filtro valida firma + expiración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398618" y="2816352"/>
            <a:ext cx="237744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8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5709514" y="2724912"/>
            <a:ext cx="1792224" cy="384048"/>
          </a:xfrm>
          <a:prstGeom prst="roundRect">
            <a:avLst>
              <a:gd fmla="val 19048" name="adj"/>
            </a:avLst>
          </a:prstGeom>
          <a:solidFill>
            <a:srgbClr val="1716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5709514" y="272491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Autorización por rol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502920" y="3310128"/>
            <a:ext cx="2624328" cy="749808"/>
          </a:xfrm>
          <a:prstGeom prst="roundRect">
            <a:avLst>
              <a:gd fmla="val 10976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649224" y="3465576"/>
            <a:ext cx="438912" cy="43891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3" name="Google Shape;32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952" y="35753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1"/>
          <p:cNvSpPr/>
          <p:nvPr/>
        </p:nvSpPr>
        <p:spPr>
          <a:xfrm>
            <a:off x="1179576" y="3419856"/>
            <a:ext cx="1847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BCrypt</a:t>
            </a:r>
            <a:b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hash de contraseñas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3259836" y="3310128"/>
            <a:ext cx="2624328" cy="749808"/>
          </a:xfrm>
          <a:prstGeom prst="roundRect">
            <a:avLst>
              <a:gd fmla="val 10976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3406140" y="3465576"/>
            <a:ext cx="438912" cy="43891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15868" y="35753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1"/>
          <p:cNvSpPr/>
          <p:nvPr/>
        </p:nvSpPr>
        <p:spPr>
          <a:xfrm>
            <a:off x="3936492" y="3419856"/>
            <a:ext cx="1847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Rutas por rol</a:t>
            </a:r>
            <a:b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/admin solo ADMIN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016752" y="3310128"/>
            <a:ext cx="2624328" cy="749808"/>
          </a:xfrm>
          <a:prstGeom prst="roundRect">
            <a:avLst>
              <a:gd fmla="val 10976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6163056" y="3465576"/>
            <a:ext cx="438912" cy="43891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72784" y="35753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1"/>
          <p:cNvSpPr/>
          <p:nvPr/>
        </p:nvSpPr>
        <p:spPr>
          <a:xfrm>
            <a:off x="6693408" y="3419856"/>
            <a:ext cx="1847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CORS restringido</a:t>
            </a:r>
            <a:b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solo el frontend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502920" y="4169664"/>
            <a:ext cx="2624328" cy="749808"/>
          </a:xfrm>
          <a:prstGeom prst="roundRect">
            <a:avLst>
              <a:gd fmla="val 10976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649224" y="4325112"/>
            <a:ext cx="438912" cy="43891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8952" y="44348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1"/>
          <p:cNvSpPr/>
          <p:nvPr/>
        </p:nvSpPr>
        <p:spPr>
          <a:xfrm>
            <a:off x="1179576" y="4279392"/>
            <a:ext cx="1847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Sesión stateless</a:t>
            </a:r>
            <a:b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sin estado en servidor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3259836" y="4169664"/>
            <a:ext cx="2624328" cy="749808"/>
          </a:xfrm>
          <a:prstGeom prst="roundRect">
            <a:avLst>
              <a:gd fmla="val 10976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3406140" y="4325112"/>
            <a:ext cx="438912" cy="43891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15868" y="44348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1"/>
          <p:cNvSpPr/>
          <p:nvPr/>
        </p:nvSpPr>
        <p:spPr>
          <a:xfrm>
            <a:off x="3936492" y="4279392"/>
            <a:ext cx="1847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Doble verificación</a:t>
            </a:r>
            <a:b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guard + interceptor 401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6016752" y="4169664"/>
            <a:ext cx="2624328" cy="749808"/>
          </a:xfrm>
          <a:prstGeom prst="roundRect">
            <a:avLst>
              <a:gd fmla="val 10976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6163056" y="4325112"/>
            <a:ext cx="438912" cy="43891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72784" y="44348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1"/>
          <p:cNvSpPr/>
          <p:nvPr/>
        </p:nvSpPr>
        <p:spPr>
          <a:xfrm>
            <a:off x="6693408" y="4279392"/>
            <a:ext cx="1847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Cuenta bloqueada</a:t>
            </a:r>
            <a:br>
              <a:rPr b="1" i="0" lang="en-US" sz="10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401 en /auth/me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2" name="Google Shape;3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2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FUNCIONALIDADES PRINCIPALES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Lo que ofrece EventOut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534945" y="1432010"/>
            <a:ext cx="1965900" cy="1371600"/>
          </a:xfrm>
          <a:prstGeom prst="roundRect">
            <a:avLst>
              <a:gd fmla="val 6667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1243605" y="1614890"/>
            <a:ext cx="548700" cy="5487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0765" y="175205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/>
          <p:nvPr/>
        </p:nvSpPr>
        <p:spPr>
          <a:xfrm>
            <a:off x="626385" y="2218394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Autenticación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26385" y="2465282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Registro e inicio (JWT)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2619777" y="1432010"/>
            <a:ext cx="1965900" cy="1371600"/>
          </a:xfrm>
          <a:prstGeom prst="roundRect">
            <a:avLst>
              <a:gd fmla="val 6667" name="adj"/>
            </a:avLst>
          </a:prstGeom>
          <a:solidFill>
            <a:srgbClr val="F5EBE0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3328437" y="1614890"/>
            <a:ext cx="548700" cy="5487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5597" y="175205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2"/>
          <p:cNvSpPr/>
          <p:nvPr/>
        </p:nvSpPr>
        <p:spPr>
          <a:xfrm>
            <a:off x="2711217" y="2218394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Explorar y filtrar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2711217" y="2465282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Categoría · comuna · costo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704609" y="1432010"/>
            <a:ext cx="1965900" cy="1371600"/>
          </a:xfrm>
          <a:prstGeom prst="roundRect">
            <a:avLst>
              <a:gd fmla="val 6667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5413269" y="1614890"/>
            <a:ext cx="548700" cy="5487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50429" y="175205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2"/>
          <p:cNvSpPr/>
          <p:nvPr/>
        </p:nvSpPr>
        <p:spPr>
          <a:xfrm>
            <a:off x="4796049" y="2218394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Mapa interactivo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796049" y="2465282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Lugares y eventos (Leaflet)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6789441" y="1432010"/>
            <a:ext cx="1965900" cy="1371600"/>
          </a:xfrm>
          <a:prstGeom prst="roundRect">
            <a:avLst>
              <a:gd fmla="val 6667" name="adj"/>
            </a:avLst>
          </a:prstGeom>
          <a:solidFill>
            <a:srgbClr val="F5EBE0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7498101" y="1614890"/>
            <a:ext cx="548700" cy="5487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35261" y="175205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/>
          <p:nvPr/>
        </p:nvSpPr>
        <p:spPr>
          <a:xfrm>
            <a:off x="6880881" y="2218394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Reseñas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6880881" y="2465282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Publica y lee opiniones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534945" y="2968202"/>
            <a:ext cx="1965900" cy="1371600"/>
          </a:xfrm>
          <a:prstGeom prst="roundRect">
            <a:avLst>
              <a:gd fmla="val 6667" name="adj"/>
            </a:avLst>
          </a:prstGeom>
          <a:solidFill>
            <a:srgbClr val="F5EBE0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1243605" y="3151082"/>
            <a:ext cx="548700" cy="5487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0765" y="328824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2"/>
          <p:cNvSpPr/>
          <p:nvPr/>
        </p:nvSpPr>
        <p:spPr>
          <a:xfrm>
            <a:off x="626385" y="3754586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Votación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626385" y="4001474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Likes / dislikes por reseña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2619777" y="2968202"/>
            <a:ext cx="1965900" cy="1371600"/>
          </a:xfrm>
          <a:prstGeom prst="roundRect">
            <a:avLst>
              <a:gd fmla="val 6667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3328437" y="3151082"/>
            <a:ext cx="548700" cy="5487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2" name="Google Shape;382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65597" y="328824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2"/>
          <p:cNvSpPr/>
          <p:nvPr/>
        </p:nvSpPr>
        <p:spPr>
          <a:xfrm>
            <a:off x="2711217" y="3754586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Favoritos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2711217" y="4001474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Guarda lugares y eventos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704609" y="2968202"/>
            <a:ext cx="1965900" cy="1371600"/>
          </a:xfrm>
          <a:prstGeom prst="roundRect">
            <a:avLst>
              <a:gd fmla="val 6667" name="adj"/>
            </a:avLst>
          </a:prstGeom>
          <a:solidFill>
            <a:srgbClr val="F5EBE0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5413269" y="3151082"/>
            <a:ext cx="548700" cy="5487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7" name="Google Shape;387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50429" y="328824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2"/>
          <p:cNvSpPr/>
          <p:nvPr/>
        </p:nvSpPr>
        <p:spPr>
          <a:xfrm>
            <a:off x="4796049" y="3754586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Proponer eventos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4796049" y="4001474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Sujeto a moderación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6789441" y="2968202"/>
            <a:ext cx="1965900" cy="1371600"/>
          </a:xfrm>
          <a:prstGeom prst="roundRect">
            <a:avLst>
              <a:gd fmla="val 6667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7498101" y="3151082"/>
            <a:ext cx="548700" cy="5487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2" name="Google Shape;392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35261" y="328824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2"/>
          <p:cNvSpPr/>
          <p:nvPr/>
        </p:nvSpPr>
        <p:spPr>
          <a:xfrm>
            <a:off x="6880881" y="3754586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Panel admin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6880881" y="4001474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CRUD y moderación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p12" title="EventOut_Diagrama_Casos_de_Uso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975" y="0"/>
            <a:ext cx="90920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g3f050242e8d_1_0" title="EventOut_Diagrama_Desplieg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75" y="57275"/>
            <a:ext cx="8912850" cy="522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g3f050242e8d_1_10" title="EventOut_Diagrama_Secuenc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6425"/>
            <a:ext cx="9724677" cy="5224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5" name="Google Shape;4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5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VALIDACIÓN · EJECUCIÓN Y MEJORAS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Ejecución de pruebas y mejoras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502920" y="1627632"/>
            <a:ext cx="3886200" cy="2880360"/>
          </a:xfrm>
          <a:prstGeom prst="roundRect">
            <a:avLst>
              <a:gd fmla="val 3175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722376" y="1810512"/>
            <a:ext cx="34472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Cómo se ejecutan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722376" y="2231136"/>
            <a:ext cx="365760" cy="36576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1" name="Google Shape;4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816" y="232257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5"/>
          <p:cNvSpPr/>
          <p:nvPr/>
        </p:nvSpPr>
        <p:spPr>
          <a:xfrm>
            <a:off x="1197864" y="2185416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Backend · ./mvnw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1197864" y="2432304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Pruebas unitarias de servicios con JUnit 5 + Mockito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722376" y="2889504"/>
            <a:ext cx="365760" cy="36576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5" name="Google Shape;4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298094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5"/>
          <p:cNvSpPr/>
          <p:nvPr/>
        </p:nvSpPr>
        <p:spPr>
          <a:xfrm>
            <a:off x="1197864" y="2843784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Frontend · npm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1197864" y="309067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Componentes con Vitest + Testing Library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722376" y="3547872"/>
            <a:ext cx="365760" cy="36576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816" y="36393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5"/>
          <p:cNvSpPr/>
          <p:nvPr/>
        </p:nvSpPr>
        <p:spPr>
          <a:xfrm>
            <a:off x="1197864" y="3502152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Manual · Swagger 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1197864" y="3749040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Endpoints probados con token Bearer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722376" y="4123944"/>
            <a:ext cx="3447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Cubre  </a:t>
            </a:r>
            <a:r>
              <a:rPr b="1" i="0" lang="en-US" sz="950" u="none" cap="none" strike="noStrike">
                <a:solidFill>
                  <a:srgbClr val="9B3D1A"/>
                </a:solidFill>
                <a:latin typeface="Calibri"/>
                <a:ea typeface="Calibri"/>
                <a:cs typeface="Calibri"/>
                <a:sym typeface="Calibri"/>
              </a:rPr>
              <a:t>funcionalidad · calidad · seguridad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4754880" y="1627632"/>
            <a:ext cx="3886200" cy="2880360"/>
          </a:xfrm>
          <a:prstGeom prst="roundRect">
            <a:avLst>
              <a:gd fmla="val 3175" name="adj"/>
            </a:avLst>
          </a:prstGeom>
          <a:solidFill>
            <a:srgbClr val="FFFFFF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4974336" y="1810512"/>
            <a:ext cx="34472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Mejoras aplicadas al producto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4974336" y="2249424"/>
            <a:ext cx="292608" cy="292608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6" name="Google Shape;43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932" y="2305020"/>
            <a:ext cx="181417" cy="181417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5"/>
          <p:cNvSpPr/>
          <p:nvPr/>
        </p:nvSpPr>
        <p:spPr>
          <a:xfrm>
            <a:off x="5358384" y="219456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Cuentas bloqueadas  </a:t>
            </a:r>
            <a:r>
              <a:rPr b="0" i="0" lang="en-US" sz="9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el login rechaza todo estado ≠ ACTIVO (401)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4974336" y="2798064"/>
            <a:ext cx="292608" cy="292608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9" name="Google Shape;43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932" y="2853660"/>
            <a:ext cx="181417" cy="181417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5"/>
          <p:cNvSpPr/>
          <p:nvPr/>
        </p:nvSpPr>
        <p:spPr>
          <a:xfrm>
            <a:off x="5358384" y="27432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Contrato en snake_case  </a:t>
            </a:r>
            <a:r>
              <a:rPr b="0" i="0" lang="en-US" sz="9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los DTOs evitan reescribir las vistas React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4974336" y="3346704"/>
            <a:ext cx="292608" cy="292608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2" name="Google Shape;44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932" y="3402300"/>
            <a:ext cx="181417" cy="181417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5"/>
          <p:cNvSpPr/>
          <p:nvPr/>
        </p:nvSpPr>
        <p:spPr>
          <a:xfrm>
            <a:off x="5358384" y="329184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@FechasEventoValidas  </a:t>
            </a:r>
            <a:r>
              <a:rPr b="0" i="0" lang="en-US" sz="9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validación cruzada: fin no puede ser antes del inicio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4974336" y="3895344"/>
            <a:ext cx="292608" cy="292608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5" name="Google Shape;44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932" y="3950940"/>
            <a:ext cx="181417" cy="181417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5"/>
          <p:cNvSpPr/>
          <p:nvPr/>
        </p:nvSpPr>
        <p:spPr>
          <a:xfrm>
            <a:off x="5358384" y="38404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Reseñas por score  </a:t>
            </a:r>
            <a:r>
              <a:rPr b="0" i="0" lang="en-US" sz="9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orden por (likes − dislikes) con conteos agregados, sin N+1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4" name="Google Shape;4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2875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6"/>
          <p:cNvSpPr/>
          <p:nvPr/>
        </p:nvSpPr>
        <p:spPr>
          <a:xfrm>
            <a:off x="758952" y="146299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PROCESO · DESAFÍOS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502945" y="511445"/>
            <a:ext cx="8138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Desafíos y soluciones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4727448" y="1114407"/>
            <a:ext cx="39135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4928616" y="1297287"/>
            <a:ext cx="365700" cy="3657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9" name="Google Shape;45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0056" y="1388727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5404104" y="1260711"/>
            <a:ext cx="299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DESAFÍO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404104" y="1425303"/>
            <a:ext cx="303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Autenticación sin estado y con expiración de sesión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4928616" y="1900791"/>
            <a:ext cx="351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4928616" y="2065383"/>
            <a:ext cx="3511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JWT con JJWT (HS256, 24 h) + doble verificación: guard por token e interceptor global 401/403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502920" y="1975100"/>
            <a:ext cx="3913500" cy="1371600"/>
          </a:xfrm>
          <a:prstGeom prst="roundRect">
            <a:avLst>
              <a:gd fmla="val 6667" name="adj"/>
            </a:avLst>
          </a:prstGeom>
          <a:solidFill>
            <a:srgbClr val="F9F1E8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704088" y="2157980"/>
            <a:ext cx="365700" cy="3657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6" name="Google Shape;46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528" y="22494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6"/>
          <p:cNvSpPr/>
          <p:nvPr/>
        </p:nvSpPr>
        <p:spPr>
          <a:xfrm>
            <a:off x="1179576" y="2121404"/>
            <a:ext cx="299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DESAFÍO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1179576" y="2285996"/>
            <a:ext cx="303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Una reseña o favorito apunta a un lugar O a un evento, nunca a ambos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704088" y="2761484"/>
            <a:ext cx="351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704088" y="2926076"/>
            <a:ext cx="3511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Regla XOR validada en el service y reforzada con restricciones únicas (UUID) en la base de datos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4727448" y="3009550"/>
            <a:ext cx="39135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4928616" y="3192430"/>
            <a:ext cx="365700" cy="365700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3" name="Google Shape;4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0056" y="328387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6"/>
          <p:cNvSpPr/>
          <p:nvPr/>
        </p:nvSpPr>
        <p:spPr>
          <a:xfrm>
            <a:off x="5404104" y="3155854"/>
            <a:ext cx="299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DESAFÍO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5404104" y="3320446"/>
            <a:ext cx="303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Integridad de datos y votos sin duplicados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4928616" y="3795934"/>
            <a:ext cx="351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4928616" y="3960526"/>
            <a:ext cx="3511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Constraints únicos, @PrePersist para timestamps y validación de negocio en cada operación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61C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5" name="Google Shape;4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8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8"/>
          <p:cNvSpPr/>
          <p:nvPr/>
        </p:nvSpPr>
        <p:spPr>
          <a:xfrm>
            <a:off x="502920" y="1627632"/>
            <a:ext cx="3886200" cy="2395728"/>
          </a:xfrm>
          <a:prstGeom prst="roundRect">
            <a:avLst>
              <a:gd fmla="val 3817" name="adj"/>
            </a:avLst>
          </a:prstGeom>
          <a:solidFill>
            <a:srgbClr val="26222C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8"/>
          <p:cNvSpPr/>
          <p:nvPr/>
        </p:nvSpPr>
        <p:spPr>
          <a:xfrm>
            <a:off x="502920" y="1627632"/>
            <a:ext cx="3886200" cy="2395728"/>
          </a:xfrm>
          <a:prstGeom prst="roundRect">
            <a:avLst>
              <a:gd fmla="val 3817" name="adj"/>
            </a:avLst>
          </a:prstGeom>
          <a:noFill/>
          <a:ln cap="flat" cmpd="sng" w="12700">
            <a:solidFill>
              <a:srgbClr val="322C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8"/>
          <p:cNvSpPr/>
          <p:nvPr/>
        </p:nvSpPr>
        <p:spPr>
          <a:xfrm>
            <a:off x="722376" y="1792224"/>
            <a:ext cx="34472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67D4F"/>
                </a:solidFill>
                <a:latin typeface="Cambria"/>
                <a:ea typeface="Cambria"/>
                <a:cs typeface="Cambria"/>
                <a:sym typeface="Cambria"/>
              </a:rPr>
              <a:t>Objetivos cumplidos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722376" y="2194560"/>
            <a:ext cx="256032" cy="25603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2" name="Google Shape;4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022" y="2243206"/>
            <a:ext cx="158740" cy="15874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8"/>
          <p:cNvSpPr/>
          <p:nvPr/>
        </p:nvSpPr>
        <p:spPr>
          <a:xfrm>
            <a:off x="1069848" y="2139696"/>
            <a:ext cx="30998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9E2E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E2EC"/>
                </a:solidFill>
                <a:latin typeface="Calibri"/>
                <a:ea typeface="Calibri"/>
                <a:cs typeface="Calibri"/>
                <a:sym typeface="Calibri"/>
              </a:rPr>
              <a:t>Se construyó una plataforma web para descubrir eventos y lugares culturales de Santiago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722376" y="2779776"/>
            <a:ext cx="256032" cy="25603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5" name="Google Shape;4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022" y="2828422"/>
            <a:ext cx="158740" cy="15874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8"/>
          <p:cNvSpPr/>
          <p:nvPr/>
        </p:nvSpPr>
        <p:spPr>
          <a:xfrm>
            <a:off x="1069848" y="2724912"/>
            <a:ext cx="30998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9E2E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E2EC"/>
                </a:solidFill>
                <a:latin typeface="Calibri"/>
                <a:ea typeface="Calibri"/>
                <a:cs typeface="Calibri"/>
                <a:sym typeface="Calibri"/>
              </a:rPr>
              <a:t>Comunidad activa: reseñas con votación y propuestas de eventos moderadas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722376" y="3364992"/>
            <a:ext cx="256032" cy="25603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8" name="Google Shape;4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022" y="3413638"/>
            <a:ext cx="158740" cy="15874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8"/>
          <p:cNvSpPr/>
          <p:nvPr/>
        </p:nvSpPr>
        <p:spPr>
          <a:xfrm>
            <a:off x="1069848" y="3310128"/>
            <a:ext cx="30998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9E2E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E2EC"/>
                </a:solidFill>
                <a:latin typeface="Calibri"/>
                <a:ea typeface="Calibri"/>
                <a:cs typeface="Calibri"/>
                <a:sym typeface="Calibri"/>
              </a:rPr>
              <a:t>Base técnica segura y mantenible sobre un stack profesional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4754880" y="1627632"/>
            <a:ext cx="3886200" cy="2395728"/>
          </a:xfrm>
          <a:prstGeom prst="roundRect">
            <a:avLst>
              <a:gd fmla="val 3817" name="adj"/>
            </a:avLst>
          </a:prstGeom>
          <a:solidFill>
            <a:srgbClr val="26222C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4754880" y="1627632"/>
            <a:ext cx="3886200" cy="2395728"/>
          </a:xfrm>
          <a:prstGeom prst="roundRect">
            <a:avLst>
              <a:gd fmla="val 3817" name="adj"/>
            </a:avLst>
          </a:prstGeom>
          <a:noFill/>
          <a:ln cap="flat" cmpd="sng" w="12700">
            <a:solidFill>
              <a:srgbClr val="322C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8"/>
          <p:cNvSpPr/>
          <p:nvPr/>
        </p:nvSpPr>
        <p:spPr>
          <a:xfrm>
            <a:off x="4974336" y="1792224"/>
            <a:ext cx="34472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67D4F"/>
                </a:solidFill>
                <a:latin typeface="Cambria"/>
                <a:ea typeface="Cambria"/>
                <a:cs typeface="Cambria"/>
                <a:sym typeface="Cambria"/>
              </a:rPr>
              <a:t>Aprendizajes técnicos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5010912" y="2258568"/>
            <a:ext cx="82296" cy="82296"/>
          </a:xfrm>
          <a:prstGeom prst="ellipse">
            <a:avLst/>
          </a:prstGeom>
          <a:solidFill>
            <a:srgbClr val="E67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5212080" y="2157984"/>
            <a:ext cx="3209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2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9E2EC"/>
                </a:solidFill>
                <a:latin typeface="Calibri"/>
                <a:ea typeface="Calibri"/>
                <a:cs typeface="Calibri"/>
                <a:sym typeface="Calibri"/>
              </a:rPr>
              <a:t>Arquitectura por capas y patrón MVVM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5010912" y="2606040"/>
            <a:ext cx="82296" cy="82296"/>
          </a:xfrm>
          <a:prstGeom prst="ellipse">
            <a:avLst/>
          </a:prstGeom>
          <a:solidFill>
            <a:srgbClr val="E67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8"/>
          <p:cNvSpPr/>
          <p:nvPr/>
        </p:nvSpPr>
        <p:spPr>
          <a:xfrm>
            <a:off x="5212080" y="2505456"/>
            <a:ext cx="3209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2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9E2EC"/>
                </a:solidFill>
                <a:latin typeface="Calibri"/>
                <a:ea typeface="Calibri"/>
                <a:cs typeface="Calibri"/>
                <a:sym typeface="Calibri"/>
              </a:rPr>
              <a:t>Seguridad: JWT, BCrypt y autorización por 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5010912" y="2953512"/>
            <a:ext cx="82296" cy="82296"/>
          </a:xfrm>
          <a:prstGeom prst="ellipse">
            <a:avLst/>
          </a:prstGeom>
          <a:solidFill>
            <a:srgbClr val="E67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8"/>
          <p:cNvSpPr/>
          <p:nvPr/>
        </p:nvSpPr>
        <p:spPr>
          <a:xfrm>
            <a:off x="5212080" y="2852928"/>
            <a:ext cx="3209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2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9E2EC"/>
                </a:solidFill>
                <a:latin typeface="Calibri"/>
                <a:ea typeface="Calibri"/>
                <a:cs typeface="Calibri"/>
                <a:sym typeface="Calibri"/>
              </a:rPr>
              <a:t>Diseño de una API REST coherente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5010912" y="3300984"/>
            <a:ext cx="82296" cy="82296"/>
          </a:xfrm>
          <a:prstGeom prst="ellipse">
            <a:avLst/>
          </a:prstGeom>
          <a:solidFill>
            <a:srgbClr val="E67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8"/>
          <p:cNvSpPr/>
          <p:nvPr/>
        </p:nvSpPr>
        <p:spPr>
          <a:xfrm>
            <a:off x="5212080" y="3200400"/>
            <a:ext cx="3209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2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E2EC"/>
                </a:solidFill>
                <a:latin typeface="Calibri"/>
                <a:ea typeface="Calibri"/>
                <a:cs typeface="Calibri"/>
                <a:sym typeface="Calibri"/>
              </a:rPr>
              <a:t>Desarrollo de una App en Kotlin en conjunto de la App Web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5010912" y="3648456"/>
            <a:ext cx="82296" cy="82296"/>
          </a:xfrm>
          <a:prstGeom prst="ellipse">
            <a:avLst/>
          </a:prstGeom>
          <a:solidFill>
            <a:srgbClr val="E67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8"/>
          <p:cNvSpPr/>
          <p:nvPr/>
        </p:nvSpPr>
        <p:spPr>
          <a:xfrm>
            <a:off x="5212080" y="3547872"/>
            <a:ext cx="320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2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E2EC"/>
                </a:solidFill>
                <a:latin typeface="Calibri"/>
                <a:ea typeface="Calibri"/>
                <a:cs typeface="Calibri"/>
                <a:sym typeface="Calibri"/>
              </a:rPr>
              <a:t>Despliegue de la App con Dockers en AWS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502920" y="4187952"/>
            <a:ext cx="8138160" cy="457200"/>
          </a:xfrm>
          <a:prstGeom prst="roundRect">
            <a:avLst>
              <a:gd fmla="val 16000" name="adj"/>
            </a:avLst>
          </a:prstGeom>
          <a:solidFill>
            <a:srgbClr val="9B3D1A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722376" y="4187952"/>
            <a:ext cx="7699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9D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E9DF"/>
                </a:solidFill>
                <a:latin typeface="Calibri"/>
                <a:ea typeface="Calibri"/>
                <a:cs typeface="Calibri"/>
                <a:sym typeface="Calibri"/>
              </a:rPr>
              <a:t>Desde la industria:  </a:t>
            </a:r>
            <a:r>
              <a:rPr b="0" i="0" lang="en-US" sz="1000" u="none" cap="none" strike="noStrike">
                <a:solidFill>
                  <a:srgbClr val="FDEFE8"/>
                </a:solidFill>
                <a:latin typeface="Calibri"/>
                <a:ea typeface="Calibri"/>
                <a:cs typeface="Calibri"/>
                <a:sym typeface="Calibri"/>
              </a:rPr>
              <a:t>el proyecto replica prácticas reales — separación de responsabilidades, seguridad por diseño y control de calidad — sobre un stack vigente y demandado.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AFA6B4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FA6B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FA6B4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2" name="Google Shape;5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3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DEMOSTRACIÓN DEL FUNCIONAMIENTO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502920" y="73152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2630"/>
                </a:solidFill>
                <a:latin typeface="Cambria"/>
                <a:ea typeface="Cambria"/>
                <a:cs typeface="Cambria"/>
                <a:sym typeface="Cambria"/>
              </a:rPr>
              <a:t>Recorrido en vivo de la aplicación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502920" y="1783080"/>
            <a:ext cx="256032" cy="25603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3"/>
          <p:cNvSpPr/>
          <p:nvPr/>
        </p:nvSpPr>
        <p:spPr>
          <a:xfrm>
            <a:off x="502920" y="17830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886968" y="1755648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Home: reseñas destacadas y secciones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502920" y="2130552"/>
            <a:ext cx="256032" cy="25603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3"/>
          <p:cNvSpPr/>
          <p:nvPr/>
        </p:nvSpPr>
        <p:spPr>
          <a:xfrm>
            <a:off x="502920" y="21305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886968" y="2103120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Explorar lugares → filtros → detalle con mapa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502920" y="2478024"/>
            <a:ext cx="256032" cy="25603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3"/>
          <p:cNvSpPr/>
          <p:nvPr/>
        </p:nvSpPr>
        <p:spPr>
          <a:xfrm>
            <a:off x="502920" y="247802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886968" y="2450592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Iniciar sesión (usuario demo)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502920" y="2825496"/>
            <a:ext cx="256032" cy="25603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3"/>
          <p:cNvSpPr/>
          <p:nvPr/>
        </p:nvSpPr>
        <p:spPr>
          <a:xfrm>
            <a:off x="502920" y="282549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886968" y="2798064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Publicar reseña y votar → reordena por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502920" y="3172968"/>
            <a:ext cx="256032" cy="25603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502920" y="317296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886968" y="3145536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Guardar un favorito → verlo en Perfil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502920" y="3520440"/>
            <a:ext cx="256032" cy="256032"/>
          </a:xfrm>
          <a:prstGeom prst="ellipse">
            <a:avLst/>
          </a:prstGeom>
          <a:solidFill>
            <a:srgbClr val="C04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3"/>
          <p:cNvSpPr/>
          <p:nvPr/>
        </p:nvSpPr>
        <p:spPr>
          <a:xfrm>
            <a:off x="502920" y="35204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886968" y="3493008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Proponer un evento → queda 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502920" y="3867912"/>
            <a:ext cx="256032" cy="256032"/>
          </a:xfrm>
          <a:prstGeom prst="ellipse">
            <a:avLst/>
          </a:prstGeom>
          <a:solidFill>
            <a:srgbClr val="1716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502920" y="386791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886968" y="3840480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Ingresar como admin → aprobar y moderar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502920" y="4215384"/>
            <a:ext cx="256032" cy="256032"/>
          </a:xfrm>
          <a:prstGeom prst="ellipse">
            <a:avLst/>
          </a:prstGeom>
          <a:solidFill>
            <a:srgbClr val="1716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502920" y="42153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886968" y="4187952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Swagger UI → probar la API con token Bearer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5212080" y="3566160"/>
            <a:ext cx="3429000" cy="310896"/>
          </a:xfrm>
          <a:prstGeom prst="roundRect">
            <a:avLst>
              <a:gd fmla="val 17647" name="adj"/>
            </a:avLst>
          </a:prstGeom>
          <a:solidFill>
            <a:srgbClr val="F5EBE0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8384" y="364845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3"/>
          <p:cNvSpPr/>
          <p:nvPr/>
        </p:nvSpPr>
        <p:spPr>
          <a:xfrm>
            <a:off x="5596128" y="356616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Usuario:  </a:t>
            </a:r>
            <a:r>
              <a:rPr b="0" i="0" lang="en-US" sz="8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andrea@eventout.cl / demo1234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5212080" y="3931920"/>
            <a:ext cx="3429000" cy="310896"/>
          </a:xfrm>
          <a:prstGeom prst="roundRect">
            <a:avLst>
              <a:gd fmla="val 17647" name="adj"/>
            </a:avLst>
          </a:prstGeom>
          <a:solidFill>
            <a:srgbClr val="17161C"/>
          </a:solidFill>
          <a:ln cap="flat" cmpd="sng" w="12700">
            <a:solidFill>
              <a:srgbClr val="1716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3" name="Google Shape;55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8384" y="401421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13"/>
          <p:cNvSpPr/>
          <p:nvPr/>
        </p:nvSpPr>
        <p:spPr>
          <a:xfrm>
            <a:off x="5596128" y="393192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Admin:  </a:t>
            </a:r>
            <a:r>
              <a:rPr b="0" i="0" lang="en-US" sz="850" u="none" cap="none" strike="noStrike">
                <a:solidFill>
                  <a:srgbClr val="AFA6B4"/>
                </a:solidFill>
                <a:latin typeface="Calibri"/>
                <a:ea typeface="Calibri"/>
                <a:cs typeface="Calibri"/>
                <a:sym typeface="Calibri"/>
              </a:rPr>
              <a:t>admin@eventout.cl / admin1234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5212080" y="4297680"/>
            <a:ext cx="3429000" cy="310896"/>
          </a:xfrm>
          <a:prstGeom prst="roundRect">
            <a:avLst>
              <a:gd fmla="val 17647" name="adj"/>
            </a:avLst>
          </a:prstGeom>
          <a:solidFill>
            <a:srgbClr val="F5EBE0"/>
          </a:solidFill>
          <a:ln cap="flat" cmpd="sng" w="12700">
            <a:solidFill>
              <a:srgbClr val="E7DC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6" name="Google Shape;55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58384" y="437997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3"/>
          <p:cNvSpPr/>
          <p:nvPr/>
        </p:nvSpPr>
        <p:spPr>
          <a:xfrm>
            <a:off x="5596128" y="429768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63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A2630"/>
                </a:solidFill>
                <a:latin typeface="Calibri"/>
                <a:ea typeface="Calibri"/>
                <a:cs typeface="Calibri"/>
                <a:sym typeface="Calibri"/>
              </a:rPr>
              <a:t>Swagger:  </a:t>
            </a:r>
            <a:r>
              <a:rPr b="0" i="0" lang="en-US" sz="85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/swagger-ui.html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F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4F23"/>
                </a:solidFill>
                <a:latin typeface="Calibri"/>
                <a:ea typeface="Calibri"/>
                <a:cs typeface="Calibri"/>
                <a:sym typeface="Calibri"/>
              </a:rPr>
              <a:t>EventOut</a:t>
            </a:r>
            <a:r>
              <a:rPr b="0" i="0" lang="en-US" sz="8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   ·   Defensa de Título · Duoc UC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8138160" y="47594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647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0" name="Google Shape;56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8375" y="1440288"/>
            <a:ext cx="4351925" cy="2002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61C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6" name="Google Shape;5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914400"/>
            <a:ext cx="2011680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7" name="Google Shape;5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0"/>
          <p:cNvSpPr/>
          <p:nvPr/>
        </p:nvSpPr>
        <p:spPr>
          <a:xfrm>
            <a:off x="758952" y="420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4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D4F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502920" y="178308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lang="en-US" sz="5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Fin. ¡Gracias por su atencion!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502920" y="2697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A6B4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502920" y="3383280"/>
            <a:ext cx="274320" cy="274320"/>
          </a:xfrm>
          <a:prstGeom prst="ellipse">
            <a:avLst/>
          </a:prstGeom>
          <a:solidFill>
            <a:srgbClr val="262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2" name="Google Shape;57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270" y="3443630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20"/>
          <p:cNvSpPr/>
          <p:nvPr/>
        </p:nvSpPr>
        <p:spPr>
          <a:xfrm>
            <a:off x="905256" y="3346704"/>
            <a:ext cx="6858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2E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9E2EC"/>
                </a:solidFill>
                <a:latin typeface="Calibri"/>
                <a:ea typeface="Calibri"/>
                <a:cs typeface="Calibri"/>
                <a:sym typeface="Calibri"/>
              </a:rPr>
              <a:t>github.com/BenjaminGT14/Proyecto_Portafolio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502920" y="3785616"/>
            <a:ext cx="274320" cy="274320"/>
          </a:xfrm>
          <a:prstGeom prst="ellipse">
            <a:avLst/>
          </a:prstGeom>
          <a:solidFill>
            <a:srgbClr val="262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5" name="Google Shape;57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3270" y="3845966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0"/>
          <p:cNvSpPr/>
          <p:nvPr/>
        </p:nvSpPr>
        <p:spPr>
          <a:xfrm>
            <a:off x="905256" y="3749040"/>
            <a:ext cx="6858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2E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9E2EC"/>
                </a:solidFill>
                <a:latin typeface="Calibri"/>
                <a:ea typeface="Calibri"/>
                <a:cs typeface="Calibri"/>
                <a:sym typeface="Calibri"/>
              </a:rPr>
              <a:t>TPY1101 · Taller Aplicado de Programación · Duoc UC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502920" y="4187952"/>
            <a:ext cx="274320" cy="274320"/>
          </a:xfrm>
          <a:prstGeom prst="ellipse">
            <a:avLst/>
          </a:prstGeom>
          <a:solidFill>
            <a:srgbClr val="262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8" name="Google Shape;57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3270" y="4248302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20"/>
          <p:cNvSpPr/>
          <p:nvPr/>
        </p:nvSpPr>
        <p:spPr>
          <a:xfrm>
            <a:off x="905256" y="4151376"/>
            <a:ext cx="6858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2E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9E2EC"/>
                </a:solidFill>
                <a:latin typeface="Calibri"/>
                <a:ea typeface="Calibri"/>
                <a:cs typeface="Calibri"/>
                <a:sym typeface="Calibri"/>
              </a:rPr>
              <a:t>Benjamin Gatica · Diego Olmos · Joaquín González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6400800" y="468630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Event</a:t>
            </a:r>
            <a:r>
              <a:rPr b="1" i="0" lang="en-US" sz="1500" u="none" cap="none" strike="noStrike">
                <a:solidFill>
                  <a:srgbClr val="E67D4F"/>
                </a:solidFill>
                <a:latin typeface="Cambria"/>
                <a:ea typeface="Cambria"/>
                <a:cs typeface="Cambria"/>
                <a:sym typeface="Cambria"/>
              </a:rPr>
              <a:t>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2026-07-01T05:15:15Z</dcterms:created>
  <dc:creator>Benjamin Gatica</dc:creator>
</cp:coreProperties>
</file>